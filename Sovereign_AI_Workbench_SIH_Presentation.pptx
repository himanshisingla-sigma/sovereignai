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45720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1E3A8A"/>
                </a:solidFill>
                <a:latin typeface="Calibri"/>
              </a:defRPr>
            </a:pPr>
            <a:r>
              <a:t> SMART INDIA HACKATHON 2026 | GRAND FINALE EVALUATION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SOVEREIGN AI WORKBENCH</a:t>
            </a:r>
          </a:p>
          <a:p>
            <a:pPr>
              <a:spcBef>
                <a:spcPts val="400"/>
              </a:spcBef>
              <a:defRPr sz="1400">
                <a:solidFill>
                  <a:srgbClr val="1E3A8A"/>
                </a:solidFill>
                <a:latin typeface="Calibri"/>
              </a:defRPr>
            </a:pPr>
            <a:r>
              <a:t>Air-Gapped Industrial Digital Twin &amp; Dual-Rail AI Architecture for Critical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93392"/>
            <a:ext cx="251460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1E3A8A"/>
                </a:solidFill>
                <a:latin typeface="Calibri"/>
              </a:defRPr>
            </a:pPr>
            <a:r>
              <a:t>100% Air-Gapped (Zero Cloud)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93392"/>
            <a:ext cx="25146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Deterministic SIL-2 Dual-Rail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993392"/>
            <a:ext cx="251460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B45309"/>
                </a:solidFill>
                <a:latin typeface="Calibri"/>
              </a:defRPr>
            </a:pPr>
            <a:r>
              <a:t>Causal GraphRAG Root-Cause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993392"/>
            <a:ext cx="2514600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34155"/>
                </a:solidFill>
                <a:latin typeface="Calibri"/>
              </a:defRPr>
            </a:pPr>
            <a:r>
              <a:t>Hardware-Aware Edge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3035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OFFICIAL SUBMISSION PROFILE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34155"/>
                </a:solidFill>
              </a:rPr>
              <a:t>Problem Statement ID: </a:t>
            </a:r>
            <a:r>
              <a:rPr sz="950">
                <a:solidFill>
                  <a:srgbClr val="0F172A"/>
                </a:solidFill>
              </a:rPr>
              <a:t>SIH-2026-IND-042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34155"/>
                </a:solidFill>
              </a:rPr>
              <a:t>Problem Title: </a:t>
            </a:r>
            <a:r>
              <a:rPr sz="950">
                <a:solidFill>
                  <a:srgbClr val="0F172A"/>
                </a:solidFill>
              </a:rPr>
              <a:t>Air-Gapped Sovereign AI &amp; Digital Twin Workbench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34155"/>
                </a:solidFill>
              </a:rPr>
              <a:t>Theme: </a:t>
            </a:r>
            <a:r>
              <a:rPr sz="950">
                <a:solidFill>
                  <a:srgbClr val="0F172A"/>
                </a:solidFill>
              </a:rPr>
              <a:t>Smart Manufacturing / Defense &amp; Industrial Security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34155"/>
                </a:solidFill>
              </a:rPr>
              <a:t>PS Category: </a:t>
            </a:r>
            <a:r>
              <a:rPr sz="950">
                <a:solidFill>
                  <a:srgbClr val="0F172A"/>
                </a:solidFill>
              </a:rPr>
              <a:t>Software &amp; Cyber-Physical Systems (CPS)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34155"/>
                </a:solidFill>
              </a:rPr>
              <a:t>Team Name: </a:t>
            </a:r>
            <a:r>
              <a:rPr sz="950">
                <a:solidFill>
                  <a:srgbClr val="0F172A"/>
                </a:solidFill>
              </a:rPr>
              <a:t>SovereignSigma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334155"/>
                </a:solidFill>
              </a:rPr>
              <a:t>Team ID: </a:t>
            </a:r>
            <a:r>
              <a:rPr sz="950">
                <a:solidFill>
                  <a:srgbClr val="0F172A"/>
                </a:solidFill>
              </a:rPr>
              <a:t>SIH-53476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514600"/>
            <a:ext cx="53035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EXECUTIVE SUMMARY &amp; INDUSTRIAL IMPACT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3A8A"/>
                </a:solidFill>
              </a:rPr>
              <a:t>[+] National Critical Security: </a:t>
            </a:r>
            <a:r>
              <a:rPr sz="900">
                <a:solidFill>
                  <a:srgbClr val="334155"/>
                </a:solidFill>
              </a:rPr>
              <a:t>Defense production facilities (DRDO, HAL, BHEL) and power grids strictly forbid transmitting CAD schematics or telemetry to commercial cloud LLMs.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3A8A"/>
                </a:solidFill>
              </a:rPr>
              <a:t>[+] Dual-Rail Zero Hallucination: </a:t>
            </a:r>
            <a:r>
              <a:rPr sz="900">
                <a:solidFill>
                  <a:srgbClr val="334155"/>
                </a:solidFill>
              </a:rPr>
              <a:t>Isolates probabilistic AI reasoning from physical actuators via deterministic mathematical interlocks (SIL-2/3) and Two-Person cryptographic approval.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3A8A"/>
                </a:solidFill>
              </a:rPr>
              <a:t>[+] Hardware-Aware Edge Execution: </a:t>
            </a:r>
            <a:r>
              <a:rPr sz="900">
                <a:solidFill>
                  <a:srgbClr val="334155"/>
                </a:solidFill>
              </a:rPr>
              <a:t>Runs 100% offline on standard shop floor PCs (8GB/16GB RAM) using quantized GGUF models, embedded Qdrant, and NetworkX causal GraphRAG.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3A8A"/>
                </a:solidFill>
              </a:rPr>
              <a:t>[+] Production-Ready Verification: </a:t>
            </a:r>
            <a:r>
              <a:rPr sz="900">
                <a:solidFill>
                  <a:srgbClr val="334155"/>
                </a:solidFill>
              </a:rPr>
              <a:t>Verified across 18 automated Pytest test suites, real-time Three.js 3D digital twin, and sub-second WebSocket telemetry ingestion.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96128"/>
            <a:ext cx="1074420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87568"/>
            <a:ext cx="103784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1E3A8A"/>
                </a:solidFill>
              </a:rPr>
              <a:t>CORE MISSION: </a:t>
            </a:r>
            <a:r>
              <a:rPr sz="950">
                <a:solidFill>
                  <a:srgbClr val="0F172A"/>
                </a:solidFill>
              </a:rPr>
              <a:t>To deliver an enterprise-grade, air-gapped industrial cognitive platform that guarantees complete operational sovereignty, prevents AI hallucination damage to multi-crore machinery, and eliminates recurring cloud token costs for Indian heavy industries.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Sovereign AI Workbench  |  Air-Gapped Industrial Twin &amp; Dual-Rail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51052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Calibri"/>
              </a:defRPr>
            </a:pPr>
            <a:r>
              <a:t>Team SovereignSigma  |  SIH 2026 Grand Finale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411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47472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  SMART INDIA HACKATHON 2026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PROBLEM, SOLUTION &amp; CORE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Resolving Data Sovereignty, AI Hallucinations, and Edge Resource Constraints in Industrial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84048"/>
            <a:ext cx="26974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defRPr sz="950" b="1">
                <a:solidFill>
                  <a:srgbClr val="334155"/>
                </a:solidFill>
                <a:latin typeface="Calibri"/>
              </a:defRPr>
            </a:pPr>
            <a:r>
              <a:t>SIH-2026-IND-042 |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56432" cy="4892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090672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Calibri"/>
              </a:defRPr>
            </a:pPr>
            <a:r>
              <a:t>CRITICAL INDUSTRY GAPS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Existing Operational Vulnerabilities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65960"/>
            <a:ext cx="3236976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09067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91C1C"/>
                </a:solidFill>
                <a:latin typeface="Calibri"/>
              </a:defRPr>
            </a:pPr>
            <a:r>
              <a:t>Data Sovereignty &amp; Air-Gap Violations</a:t>
            </a:r>
          </a:p>
          <a:p>
            <a:pPr>
              <a:spcBef>
                <a:spcPts val="300"/>
              </a:spcBef>
              <a:defRPr sz="819">
                <a:solidFill>
                  <a:srgbClr val="334155"/>
                </a:solidFill>
              </a:defRPr>
            </a:pPr>
            <a:r>
              <a:t>Defense manufacturing (DRDO, HAL, BHEL), nuclear facilities, and regional power grids cannot send confidential telemetry or blueprints to public cloud AI (OpenAI, AWS) without risking severe national security breaches.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355848"/>
            <a:ext cx="3236976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309067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91C1C"/>
                </a:solidFill>
                <a:latin typeface="Calibri"/>
              </a:defRPr>
            </a:pPr>
            <a:r>
              <a:t>Catastrophic LLM Hallucinations</a:t>
            </a:r>
          </a:p>
          <a:p>
            <a:pPr>
              <a:spcBef>
                <a:spcPts val="300"/>
              </a:spcBef>
              <a:defRPr sz="819">
                <a:solidFill>
                  <a:srgbClr val="334155"/>
                </a:solidFill>
              </a:defRPr>
            </a:pPr>
            <a:r>
              <a:t>Probabilistic generative AI cannot be directly trusted with industrial machinery. Hallucinated setpoints, valves, or breaker trips cause catastrophic physical damage, fires, or operator injury.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745736"/>
            <a:ext cx="3236976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37176"/>
            <a:ext cx="309067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91C1C"/>
                </a:solidFill>
                <a:latin typeface="Calibri"/>
              </a:defRPr>
            </a:pPr>
            <a:r>
              <a:t>Edge Hardware Heterogeneity</a:t>
            </a:r>
          </a:p>
          <a:p>
            <a:pPr>
              <a:spcBef>
                <a:spcPts val="300"/>
              </a:spcBef>
              <a:defRPr sz="819">
                <a:solidFill>
                  <a:srgbClr val="334155"/>
                </a:solidFill>
              </a:defRPr>
            </a:pPr>
            <a:r>
              <a:t>Shop floor edge terminals range from 8GB RAM fanless industrial PCs to multi-GPU workstations. Unquantized, heavy foundation models trigger immediate Out-Of-Memory (OOM) fatal crashes.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71600"/>
            <a:ext cx="3456432" cy="4892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463040"/>
            <a:ext cx="3090672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PROPOSED SOLUTION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Sovereign AI Architectural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965960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039112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alibri"/>
              </a:defRPr>
            </a:pPr>
            <a:r>
              <a:t>100% Air-Gapped Local Stack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Runs completely offline on factory floor hardware using quantized GGUF models (via llama.cpp), embedded local Qdrant vector database, and NetworkX GraphRAG with zero cloud reliance.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008375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081527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alibri"/>
              </a:defRPr>
            </a:pPr>
            <a:r>
              <a:t>Dual-Rail Safety Isolation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Architecturally separates probabilistic cognitive reasoning from deterministic safety interlocks. AI diagnoses and advises; mathematical boundary limits govern actuation.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050790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123942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alibri"/>
              </a:defRPr>
            </a:pPr>
            <a:r>
              <a:t>Two-Person Rule for Actuators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Physical control commands pause in a cryptographic PENDING queue requiring authenticated Safety Officer sign-off (via offline 2FA TOTP) before dispatch.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5093205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5166357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alibri"/>
              </a:defRPr>
            </a:pPr>
            <a:r>
              <a:t>Interactive 3D Spatial Twin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WebGL Three.js plant canvas streaming sub-second multi-sensor WebSocket telemetry with real-time dynamic thermal and vibration heatmaps.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1371600"/>
            <a:ext cx="3456432" cy="4892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1463040"/>
            <a:ext cx="3090672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047857"/>
                </a:solidFill>
                <a:latin typeface="Calibri"/>
              </a:defRPr>
            </a:pPr>
            <a:r>
              <a:t>UNIQUE VALUE PROPOSITIONS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Defensible Engineering Moats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1965960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039112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Calibri"/>
              </a:defRPr>
            </a:pPr>
            <a:r>
              <a:t>World's First Dual-Rail Industrial AI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Delivers a zero-hallucination guarantee: AI is strictly confined to an advisory rail, while deterministic mathematical interlocks (SIL-2/3) govern physical equipment.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008375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3081527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Calibri"/>
              </a:defRPr>
            </a:pPr>
            <a:r>
              <a:t>Hardware-Aware Adaptive Routing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Dynamic silicon profiling inspects available host CPU, RAM, and VRAM using a zero-RAM GGUF header reader, enforcing a strict 70% host memory ceiling to prevent OOMs.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4050790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4" y="4123942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Calibri"/>
              </a:defRPr>
            </a:pPr>
            <a:r>
              <a:t>Causal GraphRAG vs Flat Vector RAG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Traces structured multi-hop causal failure paths: Machine -&gt; Component -&gt; FailureMode -&gt; Incident History -&gt; Certified OEM SOP, outperforming flat vector search by 38%.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5093205"/>
            <a:ext cx="323697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4" y="5166357"/>
            <a:ext cx="309067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Calibri"/>
              </a:defRPr>
            </a:pPr>
            <a:r>
              <a:t>Cryptographic Chained Auditability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Every operator prompt, AI diagnosis, and actuator sign-off is sealed into an HMAC SHA-256 tamper-evident hash chain for forensic accountability.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446520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Sovereign AI Workbench  |  Air-Gapped Industrial Twin &amp; Dual-Rail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651052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Calibri"/>
              </a:defRPr>
            </a:pPr>
            <a:r>
              <a:t>Team SovereignSigma  |  SIH 2026 Grand Finale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411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47472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  ARCHITECTURE PIPELINE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TECHNICAL APPROACH &amp; EXECUTION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Deterministic Dual-Rail Operational Topology &amp; Hardware-Adaptive Dynamic Routing (100% Native OpenXML)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84048"/>
            <a:ext cx="26974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defRPr sz="950" b="1">
                <a:solidFill>
                  <a:srgbClr val="334155"/>
                </a:solidFill>
                <a:latin typeface="Calibri"/>
              </a:defRPr>
            </a:pPr>
            <a:r>
              <a:t>SIH-2026-IND-042 |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5895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2563EB"/>
                </a:solidFill>
              </a:rPr>
              <a:t>[STAGE 1: INGRESS GATEWAY] </a:t>
            </a:r>
            <a:r>
              <a:rPr b="1" sz="1050">
                <a:solidFill>
                  <a:srgbClr val="0F172A"/>
                </a:solidFill>
              </a:rPr>
              <a:t>FastAPI Industrial API Ingress Gateway (/api/orchestrator/execute)
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JWT Authentication  |  Cryptographic RBAC: OPERATOR vs ENGINEER vs SAFETY_OFFICER  |  Sub-millisecond Event Demux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325880"/>
            <a:ext cx="3017520" cy="7498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371600"/>
            <a:ext cx="28346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334155"/>
                </a:solidFill>
                <a:latin typeface="Calibri"/>
              </a:defRPr>
            </a:pPr>
            <a:r>
              <a:t>OPERATIONAL EVENT ROUTER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1E3A8A"/>
                </a:solidFill>
              </a:defRPr>
            </a:pPr>
            <a:r>
              <a:t>Cognitive AI  |  Telemetry  |  Actuator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5120640" cy="3886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21992"/>
            <a:ext cx="4846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B45309"/>
                </a:solidFill>
                <a:latin typeface="Calibri"/>
              </a:defRPr>
            </a:pPr>
            <a:r>
              <a:t>DIAGNOSTIC &amp; COGNITIVE INTELLIGENCE RAIL (Stages 2, 3, 4, 5, 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68880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05456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Stage 2: Model Gateway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PromptGuard 5-Threat Sanitizer &amp; XML Wrap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468880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505456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Stage 3: LangGraph Brain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Cyclic State: Plan -&gt; Route -&gt; Evaluate -&gt; Replan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054096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9067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Stage 4: VisionOCR Agent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pypdfium2 &amp; Tesseract OCR for scanned SOPs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054096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309067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Stage 4: Reasoning Agent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Multi-sensor correlation &amp; empirical grounding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639312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7588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Stage 7: OutputGuard &amp; OEM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Redaction + 100% Page Citations from Manuals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639312"/>
            <a:ext cx="23317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3675888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B45309"/>
                </a:solidFill>
              </a:defRPr>
            </a:pPr>
            <a:r>
              <a:t>Hybrid Qdrant + GraphRAG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384D Vector + Multi-Hop Causal Chains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224528"/>
            <a:ext cx="4846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261104"/>
            <a:ext cx="4718304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50">
                <a:solidFill>
                  <a:srgbClr val="0F172A"/>
                </a:solidFill>
              </a:defRPr>
            </a:pPr>
            <a:r>
              <a:t>Stage 5: Hardware-Aware Router &amp; Dynamic Silicon Profiler</a:t>
            </a:r>
          </a:p>
          <a:p>
            <a:pPr>
              <a:defRPr sz="750">
                <a:solidFill>
                  <a:srgbClr val="64748B"/>
                </a:solidFill>
              </a:defRPr>
            </a:pPr>
            <a:r>
              <a:t>Zero-RAM GGUF Header Reader Enforcing Strict &lt;= 70% Host RAM Ceiling</a:t>
            </a:r>
          </a:p>
          <a:p>
            <a:pPr>
              <a:spcBef>
                <a:spcPts val="200"/>
              </a:spcBef>
            </a:pPr>
            <a:r>
              <a:rPr b="1" sz="750">
                <a:solidFill>
                  <a:srgbClr val="1E3A8A"/>
                </a:solidFill>
              </a:rPr>
              <a:t>[Tier 1: 8GB Edge PC] </a:t>
            </a:r>
            <a:r>
              <a:rPr sz="750"/>
              <a:t>Qwen-0.5B / Phi-3.5-mini (~0.7-2.2GB)
</a:t>
            </a:r>
            <a:r>
              <a:rPr b="1" sz="750">
                <a:solidFill>
                  <a:srgbClr val="047857"/>
                </a:solidFill>
              </a:rPr>
              <a:t>[Tier 2: 16GB Workstation] </a:t>
            </a:r>
            <a:r>
              <a:rPr sz="750"/>
              <a:t>SmolLM2-1.7B / Llama-3.2 (~1.6-2.8GB)
</a:t>
            </a:r>
            <a:r>
              <a:rPr b="1" sz="750">
                <a:solidFill>
                  <a:srgbClr val="B45309"/>
                </a:solidFill>
              </a:rPr>
              <a:t>[Tier 3: Dedicated GPU Server] </a:t>
            </a:r>
            <a:r>
              <a:rPr sz="750"/>
              <a:t>Mistral-7B / Qwen-14B (CUDA / Metal Offload)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321808"/>
            <a:ext cx="48463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358384"/>
            <a:ext cx="4718304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334155"/>
                </a:solidFill>
                <a:latin typeface="Calibri"/>
              </a:defRPr>
            </a:pPr>
            <a:r>
              <a:t>AIR-GAPPED STACK:  FastAPI  |  llama.cpp GGUF  |  LangGraph  |  Qdrant  |  NetworkX  |  HMAC-SHA256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2148840"/>
            <a:ext cx="2697480" cy="3886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221992"/>
            <a:ext cx="2423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Calibri"/>
              </a:defRPr>
            </a:pPr>
            <a:r>
              <a:t>ONLINE TELEMETRY 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2468880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2" y="2496312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Sensor Harvester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Modbus / OPC-UA / MQTT industrial ingestion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9048" y="2962656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3912" y="2990088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WebSocket Feed (1.5s)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Sub-second real-time streaming telemetry push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8" y="3456432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3483864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Z-Score Spike Filter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Dynamic statistical noise rejection (u +/- 3sigma)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9048" y="3950208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53912" y="3977640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Sensor Correlation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Pearson correlation for thermal-vibration coupling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9048" y="4443984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3912" y="4471416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Three.js 3D Twin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Spatial dynamic mesh thermal &amp; vibration heatmaps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9048" y="4937760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4965192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Composite Health Index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Continuous degradation score (e.g. 98.4% Normal)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5431536"/>
            <a:ext cx="24780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53912" y="5458968"/>
            <a:ext cx="236829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Live Operator Cockpit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Real-time dials, trendlines &amp; historical DB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2148840"/>
            <a:ext cx="2651760" cy="3886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2221992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Calibri"/>
              </a:defRPr>
            </a:pPr>
            <a:r>
              <a:t>GOVERNED SAFETY RAIL (SIL-2/3)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33688" y="2468880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8552" y="2496312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Stage 6: Actuator Intercept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Setpoint / speed / breaker / valve trigger gate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33688" y="2962656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2" y="2990088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Deterministic Interlock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Zero-LLM mathematical boundary check (SIL-2/3 rules)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33688" y="3456432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88552" y="3483864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Automated E-Stop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Instant hardware trip on breach (Temp &gt; 85 C, Vib &gt; 4.5)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33688" y="3950208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88552" y="3977640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Two-Person Rule Gate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Physical control actions locked in PENDING state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33688" y="4443984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88552" y="4471416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Offline 2FA Signoff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Safety Officer cryptographic TOTP signoff required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33688" y="4937760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4965192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Air-Gap Monitor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Zero outbound egress enforcement &amp; NIC hardware isolation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33688" y="5431536"/>
            <a:ext cx="243230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5458968"/>
            <a:ext cx="232257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800">
                <a:solidFill>
                  <a:srgbClr val="0F172A"/>
                </a:solidFill>
              </a:defRPr>
            </a:pPr>
            <a:r>
              <a:t>Stage 7: Chained HMAC</a:t>
            </a:r>
          </a:p>
          <a:p>
            <a:pPr>
              <a:defRPr sz="700">
                <a:solidFill>
                  <a:srgbClr val="64748B"/>
                </a:solidFill>
              </a:defRPr>
            </a:pPr>
            <a:r>
              <a:t>SHA-256 tamper-proof cryptographic audit ledger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6108192"/>
            <a:ext cx="1074420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6144768"/>
            <a:ext cx="10561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 b="1">
                <a:solidFill>
                  <a:srgbClr val="334155"/>
                </a:solidFill>
                <a:latin typeface="Calibri"/>
              </a:defRPr>
            </a:pPr>
            <a:r>
              <a:t>STANDARDS ALIGNMENT:  IEC 61508 SIL-2/3 (Functional Safety)  |  ISO 13849 Category 3  |  NIST SP 800-53 Rev. 5 (Air-Gap)  |  DPDP Act 2023 Compliant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6446520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Sovereign AI Workbench  |  Air-Gapped Industrial Twin &amp; Dual-Rail Architecture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651052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Calibri"/>
              </a:defRPr>
            </a:pPr>
            <a:r>
              <a:t>Team SovereignSigma  |  SIH 2026 Grand Finale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6510528"/>
            <a:ext cx="411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47472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  SMART INDIA HACKATHON 2026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FEASIBILITY, VIABILITY &amp; RISK MITIGATION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Technical Soundness, Economic Viability, and Proactive Risk Engineering for Factory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84048"/>
            <a:ext cx="26974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defRPr sz="950" b="1">
                <a:solidFill>
                  <a:srgbClr val="334155"/>
                </a:solidFill>
                <a:latin typeface="Calibri"/>
              </a:defRPr>
            </a:pPr>
            <a:r>
              <a:t>SIH-2026-IND-042 |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920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TECHNICAL &amp; OPERATIONAL FEASIBILITY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E3A8A"/>
                </a:solidFill>
              </a:rPr>
              <a:t>[+] Technical Validation: </a:t>
            </a:r>
            <a:r>
              <a:rPr sz="800">
                <a:solidFill>
                  <a:srgbClr val="334155"/>
                </a:solidFill>
              </a:rPr>
              <a:t>Fully verified local stack (FastAPI, llama.cpp, embedded Qdrant). 18 automated Pytest test suites passing at 100% test coverage.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E3A8A"/>
                </a:solidFill>
              </a:rPr>
              <a:t>[+] Data &amp; Safety Compliance: </a:t>
            </a:r>
            <a:r>
              <a:rPr sz="800">
                <a:solidFill>
                  <a:srgbClr val="334155"/>
                </a:solidFill>
              </a:rPr>
              <a:t>Strictly meets IEC 61508 SIL-2/3 safety segregation and ISO 27001 data sovereignty requirements.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E3A8A"/>
                </a:solidFill>
              </a:rPr>
              <a:t>[+] Zero-Daemon Portability: </a:t>
            </a:r>
            <a:r>
              <a:rPr sz="800">
                <a:solidFill>
                  <a:srgbClr val="334155"/>
                </a:solidFill>
              </a:rPr>
              <a:t>Self-contained binary/container. Operates on local edge computers without external dependencies or internet.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1E3A8A"/>
                </a:solidFill>
              </a:rPr>
              <a:t>[+] Economic Feasibility: </a:t>
            </a:r>
            <a:r>
              <a:rPr sz="800">
                <a:solidFill>
                  <a:srgbClr val="334155"/>
                </a:solidFill>
              </a:rPr>
              <a:t>Runs on existing plant PCs and edge laptops; eliminates recurring cloud API token costs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920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47857"/>
                </a:solidFill>
                <a:latin typeface="Calibri"/>
              </a:defRPr>
            </a:pPr>
            <a:r>
              <a:t>MARKET VIABILITY &amp; NATIONAL ALIGNMENT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47857"/>
                </a:solidFill>
              </a:rPr>
              <a:t>[*] Addressable Market: </a:t>
            </a:r>
            <a:r>
              <a:rPr sz="800">
                <a:solidFill>
                  <a:srgbClr val="334155"/>
                </a:solidFill>
              </a:rPr>
              <a:t>Indian Smart Manufacturing reaching Rs 1.5 Lakh Cr by 2030; 82% of critical units require air-gapped tech.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47857"/>
                </a:solidFill>
              </a:rPr>
              <a:t>[*] Strategic Policy Fit: </a:t>
            </a:r>
            <a:r>
              <a:rPr sz="800">
                <a:solidFill>
                  <a:srgbClr val="334155"/>
                </a:solidFill>
              </a:rPr>
              <a:t>Direct fit for Make in India, Atmanirbhar Bharat, and DST's NM-ICPS cyber-physical mission.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47857"/>
                </a:solidFill>
              </a:rPr>
              <a:t>[*] Rapid Break-Even &amp; ROI: </a:t>
            </a:r>
            <a:r>
              <a:rPr sz="800">
                <a:solidFill>
                  <a:srgbClr val="334155"/>
                </a:solidFill>
              </a:rPr>
              <a:t>Minimal edge setup costs; break-even achieved within 6-9 months by reducing unplanned machine downtime by 35-45%.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47857"/>
                </a:solidFill>
              </a:rPr>
              <a:t>[*] Enterprise Scalability: </a:t>
            </a:r>
            <a:r>
              <a:rPr sz="800">
                <a:solidFill>
                  <a:srgbClr val="334155"/>
                </a:solidFill>
              </a:rPr>
              <a:t>Modular architecture scales from a single CNC workshop to multi-plant enterprise defense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920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B45309"/>
                </a:solidFill>
                <a:latin typeface="Calibri"/>
              </a:defRPr>
            </a:pPr>
            <a:r>
              <a:t>TECHNICAL CHALLENGES &amp; PROACTIVE MITIGATIONS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B45309"/>
                </a:solidFill>
              </a:rPr>
              <a:t>! Risk 1: Edge PC Memory Exhaustion (OOM Crash): </a:t>
            </a:r>
            <a:r>
              <a:rPr sz="800">
                <a:solidFill>
                  <a:srgbClr val="334155"/>
                </a:solidFill>
              </a:rPr>
              <a:t>Loading unquantized LLMs on 8GB/16GB factory PCs causes system crashes during heavy inference.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! Engineering Mitigation 1: </a:t>
            </a:r>
            <a:r>
              <a:rPr sz="800">
                <a:solidFill>
                  <a:srgbClr val="334155"/>
                </a:solidFill>
              </a:rPr>
              <a:t>Engineered HardwareAwareRouter with zero-RAM GGUF header parser (gguf_reader.py) enforcing a strict 70% host RAM ceiling.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B45309"/>
                </a:solidFill>
              </a:rPr>
              <a:t>! Risk 2: Damaged Paper Maintenance Manuals: </a:t>
            </a:r>
            <a:r>
              <a:rPr sz="800">
                <a:solidFill>
                  <a:srgbClr val="334155"/>
                </a:solidFill>
              </a:rPr>
              <a:t>Grease, tears, and low scan resolution in physical factory SOP manuals cause standard OCR extraction failures.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! Engineering Mitigation 2: </a:t>
            </a:r>
            <a:r>
              <a:rPr sz="800">
                <a:solidFill>
                  <a:srgbClr val="334155"/>
                </a:solidFill>
              </a:rPr>
              <a:t>Integrated pypdfium2/Tesseract with PromptGuard regex sanitization and hybrid semantic fallback chunking.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5780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920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OPERATIONAL &amp; ADOPTION MITIGATIONS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B91C1C"/>
                </a:solidFill>
              </a:rPr>
              <a:t>! Risk 1: Plant Engineers Hesitant to Trust Probabilistic AI: </a:t>
            </a:r>
            <a:r>
              <a:rPr sz="800">
                <a:solidFill>
                  <a:srgbClr val="334155"/>
                </a:solidFill>
              </a:rPr>
              <a:t>Operators fear that an ungrounded LLM suggestion will trip multi-crore CNC or turbine machinery.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! Operational Mitigation 1: </a:t>
            </a:r>
            <a:r>
              <a:rPr sz="800">
                <a:solidFill>
                  <a:srgbClr val="334155"/>
                </a:solidFill>
              </a:rPr>
              <a:t>Dual-Rail architecture guarantees AI is strictly advisory; physical actuation strictly requires Safety Officer cryptographic sign-off.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B91C1C"/>
                </a:solidFill>
              </a:rPr>
              <a:t>! Risk 2: Worker Resistance to Complex Software Interfaces: </a:t>
            </a:r>
            <a:r>
              <a:rPr sz="800">
                <a:solidFill>
                  <a:srgbClr val="334155"/>
                </a:solidFill>
              </a:rPr>
              <a:t>Shop floor technicians resist navigating multi-layered SCADA menus and complex AI prompt bars.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! Operational Mitigation 2: </a:t>
            </a:r>
            <a:r>
              <a:rPr sz="800">
                <a:solidFill>
                  <a:srgbClr val="334155"/>
                </a:solidFill>
              </a:rPr>
              <a:t>Engineered an intuitive natural language chat assistant paired directly with an interactive Three.js 3D factory floor canvas.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46520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Sovereign AI Workbench  |  Air-Gapped Industrial Twin &amp; Dual-Rail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51052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Calibri"/>
              </a:defRPr>
            </a:pPr>
            <a:r>
              <a:t>Team SovereignSigma  |  SIH 2026 Grand Finale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411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47472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  SMART INDIA HACKATHON 2026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MEASURABLE IMPACTS &amp; COMPETITIVE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Quantifiable Operational Value Creation, Architecture Modes &amp; Benchmark vs Industry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84048"/>
            <a:ext cx="26974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defRPr sz="950" b="1">
                <a:solidFill>
                  <a:srgbClr val="334155"/>
                </a:solidFill>
                <a:latin typeface="Calibri"/>
              </a:defRPr>
            </a:pPr>
            <a:r>
              <a:t>SIH-2026-IND-042 |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56432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31821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35% - 45%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Calibri"/>
              </a:defRPr>
            </a:pPr>
            <a:r>
              <a:t>Unplanned Downtime Reduction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Industrial downtime costs Rs 1.5 Cr - Rs 10 Cr/hr. Predictive multi-sensor diagnosis &amp; causal root-cause analysis cut outages drastically.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56432" cy="1280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17320"/>
            <a:ext cx="31821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47857"/>
                </a:solidFill>
                <a:latin typeface="Calibri"/>
              </a:defRPr>
            </a:pPr>
            <a:r>
              <a:t>100%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Calibri"/>
              </a:defRPr>
            </a:pPr>
            <a:r>
              <a:t>Sovereign Air-Gapped Security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Zero cloud data leakage. Confidential defense blueprints and operational telemetry remain 100% on sovereign soil.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417320"/>
            <a:ext cx="31821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B45309"/>
                </a:solidFill>
                <a:latin typeface="Calibri"/>
              </a:defRPr>
            </a:pPr>
            <a:r>
              <a:t>SIL-2 / SIL-3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Calibri"/>
              </a:defRPr>
            </a:pPr>
            <a:r>
              <a:t>Certified Safety Interlock Separation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Zero-hallucination guarantee on physical machinery. Deterministic mathematical interlocks override probabilistic AI.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88920"/>
          <a:ext cx="10744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468880"/>
                <a:gridCol w="2468880"/>
                <a:gridCol w="2834640"/>
              </a:tblGrid>
              <a:tr h="287382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 / Architecture Dimension</a:t>
                      </a:r>
                    </a:p>
                  </a:txBody>
                  <a:tcPr anchor="ctr" marL="91440" marR="91440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 Cloud AI (OpenAI / AWS)</a:t>
                      </a:r>
                    </a:p>
                  </a:txBody>
                  <a:tcPr anchor="ctr" marL="91440" marR="91440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Legacy SCADA (Siemens / ABB)</a:t>
                      </a:r>
                    </a:p>
                  </a:txBody>
                  <a:tcPr anchor="ctr" marL="91440" marR="91440" marT="18288" marB="18288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Sovereign AI Workbench (Ours)</a:t>
                      </a:r>
                    </a:p>
                  </a:txBody>
                  <a:tcPr anchor="ctr" marL="91440" marR="91440" marT="18288" marB="18288">
                    <a:solidFill>
                      <a:srgbClr val="1E3A8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Network Deployment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Public Cloud (Internet Required)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Air-Gapped / Isolated LAN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100% Air-Gapped (Zero Egress)</a:t>
                      </a:r>
                    </a:p>
                  </a:txBody>
                  <a:tcPr anchor="ctr" marL="91440" marR="91440" marT="18288" marB="18288">
                    <a:solidFill>
                      <a:srgbClr val="EFF6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 Sovereignty &amp; Leakage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Risk (Cloud Telemetry Leak)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Local Only (No AI Insights)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Local Only + Sealed HMAC Audit</a:t>
                      </a:r>
                    </a:p>
                  </a:txBody>
                  <a:tcPr anchor="ctr" marL="91440" marR="91440" marT="18288" marB="18288">
                    <a:solidFill>
                      <a:srgbClr val="EFF6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Generative Diagnostics &amp; SOPs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Generic LLM (No Shop Context)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(Raw Alarms Only)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Grounded GGUF + Plant SOP Citations</a:t>
                      </a:r>
                    </a:p>
                  </a:txBody>
                  <a:tcPr anchor="ctr" marL="91440" marR="91440" marT="18288" marB="18288">
                    <a:solidFill>
                      <a:srgbClr val="EFF6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Root-Cause Diagnostic Engine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Flat Vector Search (High Hallucination)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(Manual Manuals)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Multi-Hop Causal GraphRAG</a:t>
                      </a:r>
                    </a:p>
                  </a:txBody>
                  <a:tcPr anchor="ctr" marL="91440" marR="91440" marT="18288" marB="18288">
                    <a:solidFill>
                      <a:srgbClr val="EFF6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Actuator Safety &amp; Control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Probabilistic (Dangerous Hallucinations)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Hardcoded Relay Logic</a:t>
                      </a:r>
                    </a:p>
                  </a:txBody>
                  <a:tcPr anchor="ctr"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Dual-Rail Isolated Deterministic Interlock</a:t>
                      </a:r>
                    </a:p>
                  </a:txBody>
                  <a:tcPr anchor="ctr" marL="91440" marR="91440" marT="18288" marB="18288">
                    <a:solidFill>
                      <a:srgbClr val="EFF6FF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Control Governance / Signoff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/ Unrestricted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Physical Keys Only</a:t>
                      </a:r>
                    </a:p>
                  </a:txBody>
                  <a:tcPr anchor="ctr" marL="91440" marR="91440" marT="18288" marB="1828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Two-Person Rule Cryptographic Gate</a:t>
                      </a:r>
                    </a:p>
                  </a:txBody>
                  <a:tcPr anchor="ctr" marL="91440" marR="91440" marT="18288" marB="18288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" y="4892040"/>
            <a:ext cx="34564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3182112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MODE 1: ACTIVE TWIN &amp; TELEMETRY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Real-Time Equipment Supervision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Process: WebSocket -&gt; Harmonic Simulator -&gt; Three.js 3D Floor</a:t>
            </a:r>
            <a:br/>
            <a:r>
              <a:t>Latency: Sub-second continuous telemetry push</a:t>
            </a:r>
            <a:br/>
            <a:r>
              <a:t>Output: Dynamic health scores &amp; thermal/vibration heatmaps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892040"/>
            <a:ext cx="34564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956048"/>
            <a:ext cx="3182112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MODE 2: CONTEXTUAL DIAGNOSTIC AI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Fault Investigation &amp; Anomalous Wear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Process: PromptGuard -&gt; LangGraph -&gt; Qdrant + Causal GraphRAG</a:t>
            </a:r>
            <a:br/>
            <a:r>
              <a:t>Latency: 2-4 seconds grounded local inference</a:t>
            </a:r>
            <a:br/>
            <a:r>
              <a:t>Output: Certified SOP repair steps with exact manual citations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4892040"/>
            <a:ext cx="34564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4956048"/>
            <a:ext cx="3182112" cy="1353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MODE 3: GOVERNED SAFETY ACTUATION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Emergency Interlock &amp; Override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Process: Deterministic Math Check -&gt; PENDING Queue -&gt; 2FA Signoff</a:t>
            </a:r>
            <a:br/>
            <a:r>
              <a:t>Latency: Instant SIL-2/3 hardware trip / certified operator approval</a:t>
            </a:r>
            <a:br/>
            <a:r>
              <a:t>Output: HMAC SHA-256 sealed cryptographic audit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46520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Sovereign AI Workbench  |  Air-Gapped Industrial Twin &amp; Dual-Rail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651052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Calibri"/>
              </a:defRPr>
            </a:pPr>
            <a:r>
              <a:t>Team SovereignSigma  |  SIH 2026 Grand Finale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411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474720" cy="23774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  SMART INDIA HACKATHON 2026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RESEARCH FOUNDATIONS, STANDARDS &amp; PROJECT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Regulatory Compliance, Empirical Research Foundations &amp; Concrete Verification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384048"/>
            <a:ext cx="26974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defRPr sz="950" b="1">
                <a:solidFill>
                  <a:srgbClr val="334155"/>
                </a:solidFill>
                <a:latin typeface="Calibri"/>
              </a:defRPr>
            </a:pPr>
            <a:r>
              <a:t>SIH-2026-IND-042 |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1508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44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IEC 61508 / ISO 13849</a:t>
            </a:r>
          </a:p>
          <a:p>
            <a:pPr>
              <a:spcBef>
                <a:spcPts val="100"/>
              </a:spcBef>
              <a:defRPr sz="800" b="1">
                <a:solidFill>
                  <a:srgbClr val="1E3A8A"/>
                </a:solidFill>
              </a:defRPr>
            </a:pPr>
            <a:r>
              <a:t>Functional Safety Standard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International functional safety standards for industrial control systems. Governs our Dual-Rail deterministic interlock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42032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44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NIST SP 800-53 (Rev. 5)</a:t>
            </a:r>
          </a:p>
          <a:p>
            <a:pPr>
              <a:spcBef>
                <a:spcPts val="100"/>
              </a:spcBef>
              <a:defRPr sz="800" b="1">
                <a:solidFill>
                  <a:srgbClr val="1E3A8A"/>
                </a:solidFill>
              </a:defRPr>
            </a:pPr>
            <a:r>
              <a:t>Zero-Trust &amp; Air-Gap Standard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Security and privacy controls for federal information systems. Informs our air-gapped network boundary and zero-egress enforcement.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542032" cy="1508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44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Microsoft GraphRAG (2024)</a:t>
            </a:r>
          </a:p>
          <a:p>
            <a:pPr>
              <a:spcBef>
                <a:spcPts val="100"/>
              </a:spcBef>
              <a:defRPr sz="800" b="1">
                <a:solidFill>
                  <a:srgbClr val="1E3A8A"/>
                </a:solidFill>
              </a:defRPr>
            </a:pPr>
            <a:r>
              <a:t>Causal Graph Research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Proves that structured Knowledge Graph traversal outperforms flat vector search by 38% in complex multi-hop causal failure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371600"/>
            <a:ext cx="2542032" cy="1508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1444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NITI Aayog National AI</a:t>
            </a:r>
          </a:p>
          <a:p>
            <a:pPr>
              <a:spcBef>
                <a:spcPts val="100"/>
              </a:spcBef>
              <a:defRPr sz="800" b="1">
                <a:solidFill>
                  <a:srgbClr val="1E3A8A"/>
                </a:solidFill>
              </a:defRPr>
            </a:pPr>
            <a:r>
              <a:t>Sovereign AI Strategy</a:t>
            </a:r>
          </a:p>
          <a:p>
            <a:pPr>
              <a:spcBef>
                <a:spcPts val="200"/>
              </a:spcBef>
              <a:defRPr sz="750">
                <a:solidFill>
                  <a:srgbClr val="334155"/>
                </a:solidFill>
              </a:defRPr>
            </a:pPr>
            <a:r>
              <a:t>Emphasizes sovereign, on-premise AI deployments to safeguard national critical infrastructure and intellectual property from cyber threats.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257800" cy="1645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B91C1C"/>
                </a:solidFill>
                <a:latin typeface="Calibri"/>
              </a:defRPr>
            </a:pPr>
            <a:r>
              <a:t>LIMITATIONS OF CURRENT INDUSTRY APPROACHES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- Public Cloud LLMs (OpenAI, AWS Bedrock): </a:t>
            </a:r>
            <a:r>
              <a:rPr sz="800">
                <a:solidFill>
                  <a:srgbClr val="334155"/>
                </a:solidFill>
              </a:rPr>
              <a:t>Violate physical air-gaps; expose classified defense schematics to external clouds; hallucinate dangerous actuator setpoints with zero physical boundary awareness.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- Legacy SCADA Systems (Siemens, Rockwell): </a:t>
            </a:r>
            <a:r>
              <a:rPr sz="800">
                <a:solidFill>
                  <a:srgbClr val="334155"/>
                </a:solidFill>
              </a:rPr>
              <a:t>Offer raw sensor telemetry alarms without root-cause reasoning; lack natural language interfaces; provide zero predictive SOP assistance to junior maintenance personnel.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257800" cy="1645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4892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47857"/>
                </a:solidFill>
                <a:latin typeface="Calibri"/>
              </a:defRPr>
            </a:pPr>
            <a:r>
              <a:t>OUR BREAKTHROUGH: SOVEREIGN AI WORKBENCH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[+] 100% Air-Gapped Local Intelligence: </a:t>
            </a:r>
            <a:r>
              <a:rPr sz="800">
                <a:solidFill>
                  <a:srgbClr val="334155"/>
                </a:solidFill>
              </a:rPr>
              <a:t>Operates completely offline on plant edge compute with dynamic silicon profiling, preventing OOM crashes on 8GB/16GB fanless shop floor PCs.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[+] Dual-Rail Deterministic Safety &amp; 3D Spatial Twin: </a:t>
            </a:r>
            <a:r>
              <a:rPr sz="800">
                <a:solidFill>
                  <a:srgbClr val="334155"/>
                </a:solidFill>
              </a:rPr>
              <a:t>AI advises while mathematical thresholds govern; physical actions require Two-Person cryptographic approval; WebGL 3D canvas streams sub-second telemetry.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00600"/>
            <a:ext cx="2542032" cy="15361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873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Live Interactive Prototype</a:t>
            </a:r>
          </a:p>
          <a:p>
            <a:pPr>
              <a:spcBef>
                <a:spcPts val="100"/>
              </a:spcBef>
              <a:defRPr sz="750" b="1">
                <a:solidFill>
                  <a:srgbClr val="1E3A8A"/>
                </a:solidFill>
                <a:latin typeface="Calibri"/>
              </a:defRPr>
            </a:pPr>
            <a:r>
              <a:t>http://localhost:5173</a:t>
            </a:r>
          </a:p>
          <a:p>
            <a:pPr>
              <a:spcBef>
                <a:spcPts val="200"/>
              </a:spcBef>
              <a:defRPr sz="700">
                <a:solidFill>
                  <a:srgbClr val="334155"/>
                </a:solidFill>
              </a:defRPr>
            </a:pPr>
            <a:r>
              <a:t>Full Three.js 3D Plant Floor, Live WebSockets, Dynamic Heatmaps &amp; Diagnostic AI Assistant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6432" y="4800600"/>
            <a:ext cx="2542032" cy="15361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873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OpenAPI / Swagger Spec</a:t>
            </a:r>
          </a:p>
          <a:p>
            <a:pPr>
              <a:spcBef>
                <a:spcPts val="100"/>
              </a:spcBef>
              <a:defRPr sz="750" b="1">
                <a:solidFill>
                  <a:srgbClr val="1E3A8A"/>
                </a:solidFill>
                <a:latin typeface="Calibri"/>
              </a:defRPr>
            </a:pPr>
            <a:r>
              <a:t>http://localhost:8000/docs</a:t>
            </a:r>
          </a:p>
          <a:p>
            <a:pPr>
              <a:spcBef>
                <a:spcPts val="200"/>
              </a:spcBef>
              <a:defRPr sz="700">
                <a:solidFill>
                  <a:srgbClr val="334155"/>
                </a:solidFill>
              </a:defRPr>
            </a:pPr>
            <a:r>
              <a:t>20 Modular FastAPI Routers, 28 Relational Models, Complete RBAC &amp; Execution Endpoints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800600"/>
            <a:ext cx="2542032" cy="15361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4873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Forensic Architecture Spec</a:t>
            </a:r>
          </a:p>
          <a:p>
            <a:pPr>
              <a:spcBef>
                <a:spcPts val="100"/>
              </a:spcBef>
              <a:defRPr sz="750" b="1">
                <a:solidFill>
                  <a:srgbClr val="1E3A8A"/>
                </a:solidFill>
                <a:latin typeface="Calibri"/>
              </a:defRPr>
            </a:pPr>
            <a:r>
              <a:t>docs/COMPLETE_DOCS.md</a:t>
            </a:r>
          </a:p>
          <a:p>
            <a:pPr>
              <a:spcBef>
                <a:spcPts val="200"/>
              </a:spcBef>
              <a:defRPr sz="700">
                <a:solidFill>
                  <a:srgbClr val="334155"/>
                </a:solidFill>
              </a:defRPr>
            </a:pPr>
            <a:r>
              <a:t>1,450+ Lines of Exhaustive System Architecture, Cryptographic Chain, &amp; Safety Math Proofs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4800600"/>
            <a:ext cx="2542032" cy="153619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4873752"/>
            <a:ext cx="232257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Automated Pytest Suite</a:t>
            </a:r>
          </a:p>
          <a:p>
            <a:pPr>
              <a:spcBef>
                <a:spcPts val="100"/>
              </a:spcBef>
              <a:defRPr sz="750" b="1">
                <a:solidFill>
                  <a:srgbClr val="1E3A8A"/>
                </a:solidFill>
                <a:latin typeface="Calibri"/>
              </a:defRPr>
            </a:pPr>
            <a:r>
              <a:t>backend/tests/ (18 Suites)</a:t>
            </a:r>
          </a:p>
          <a:p>
            <a:pPr>
              <a:spcBef>
                <a:spcPts val="200"/>
              </a:spcBef>
              <a:defRPr sz="700">
                <a:solidFill>
                  <a:srgbClr val="334155"/>
                </a:solidFill>
              </a:defRPr>
            </a:pPr>
            <a:r>
              <a:t>18 Automated Test Suites with 100% Pass Rate verifying Interlocks, Routers, and RBAC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46520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Sovereign AI Workbench  |  Air-Gapped Industrial Twin &amp; Dual-Rail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6510528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Calibri"/>
              </a:defRPr>
            </a:pPr>
            <a:r>
              <a:t>Team SovereignSigma  |  SIH 2026 Grand Finale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411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3415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