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548640"/>
            <a:ext cx="8869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73E8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6949440" cy="4389120"/>
          </a:xfrm>
          <a:prstGeom prst="roundRect">
            <a:avLst/>
          </a:prstGeom>
          <a:solidFill>
            <a:srgbClr val="F8F9F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spcAft>
                <a:spcPts val="1200"/>
              </a:spcAft>
            </a:pPr>
            <a:r>
              <a:rPr b="1" sz="1500">
                <a:solidFill>
                  <a:srgbClr val="202124"/>
                </a:solidFill>
                <a:latin typeface="Arial"/>
              </a:rPr>
              <a:t>•  Problem Statement ID : </a:t>
            </a:r>
            <a:r>
              <a:rPr b="1" sz="1500">
                <a:solidFill>
                  <a:srgbClr val="202124"/>
                </a:solidFill>
                <a:latin typeface="Arial"/>
              </a:rPr>
              <a:t>SIH-2026-IND-042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202124"/>
                </a:solidFill>
                <a:latin typeface="Arial"/>
              </a:rPr>
              <a:t>•  Problem Statement Title : </a:t>
            </a:r>
            <a:r>
              <a:rPr b="1" sz="1500">
                <a:solidFill>
                  <a:srgbClr val="18864B"/>
                </a:solidFill>
                <a:latin typeface="Arial"/>
              </a:rPr>
              <a:t>Air-Gapped Sovereign AI &amp; Digital Twin Workbench for Critical Industrial Infrastructure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202124"/>
                </a:solidFill>
                <a:latin typeface="Arial"/>
              </a:rPr>
              <a:t>•  Theme : </a:t>
            </a:r>
            <a:r>
              <a:rPr b="1" sz="1500">
                <a:solidFill>
                  <a:srgbClr val="202124"/>
                </a:solidFill>
                <a:latin typeface="Arial"/>
              </a:rPr>
              <a:t>Smart Manufacturing / Defense &amp; Industrial Security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202124"/>
                </a:solidFill>
                <a:latin typeface="Arial"/>
              </a:rPr>
              <a:t>•  PS Category : </a:t>
            </a:r>
            <a:r>
              <a:rPr b="1" sz="1500">
                <a:solidFill>
                  <a:srgbClr val="202124"/>
                </a:solidFill>
                <a:latin typeface="Arial"/>
              </a:rPr>
              <a:t>Software &amp; Cyber-Physical Systems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202124"/>
                </a:solidFill>
                <a:latin typeface="Arial"/>
              </a:rPr>
              <a:t>•  Team ID : </a:t>
            </a:r>
            <a:r>
              <a:rPr b="1" sz="1500">
                <a:solidFill>
                  <a:srgbClr val="202124"/>
                </a:solidFill>
                <a:latin typeface="Arial"/>
              </a:rPr>
              <a:t>SIH-53476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202124"/>
                </a:solidFill>
                <a:latin typeface="Arial"/>
              </a:rPr>
              <a:t>•  Team Name : </a:t>
            </a:r>
            <a:r>
              <a:rPr b="1" sz="1500">
                <a:solidFill>
                  <a:srgbClr val="1A73E8"/>
                </a:solidFill>
                <a:latin typeface="Arial"/>
              </a:rPr>
              <a:t>SovereignSigma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0" y="1645920"/>
            <a:ext cx="3474720" cy="4389120"/>
          </a:xfrm>
          <a:prstGeom prst="round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A8B5"/>
                </a:solidFill>
              </a:defRPr>
            </a:pPr>
            <a:r>
              <a:t>SOVEREIGN AI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WORKBENCH</a:t>
            </a:r>
          </a:p>
          <a:p>
            <a:pPr algn="ctr">
              <a:spcBef>
                <a:spcPts val="2400"/>
              </a:spcBef>
              <a:defRPr sz="1300">
                <a:solidFill>
                  <a:srgbClr val="F8F9FA"/>
                </a:solidFill>
              </a:defRPr>
            </a:pPr>
            <a:r>
              <a:t>100% Air-Gapped</a:t>
            </a:r>
            <a:br/>
            <a:r>
              <a:t>Zero Cloud Leakage</a:t>
            </a:r>
            <a:br/>
            <a:r>
              <a:t>Dual-Rail Safety Engine</a:t>
            </a:r>
            <a:br/>
            <a:r>
              <a:t>Causal GraphRAG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@ Sovereign Industrial AI Workbench — Team Sovereign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2B49"/>
                </a:solidFill>
                <a:latin typeface="Arial"/>
              </a:defRPr>
            </a:pPr>
            <a:r>
              <a:t>SOVEREIGN AI WORKBENCH (Air-Gapped Industrial Twin)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3716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82B49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228600"/>
            <a:ext cx="1463040" cy="292608"/>
          </a:xfrm>
          <a:prstGeom prst="roundRect">
            <a:avLst/>
          </a:prstGeom>
          <a:solidFill>
            <a:srgbClr val="F29900"/>
          </a:solidFill>
          <a:ln>
            <a:solidFill>
              <a:srgbClr val="F2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★ SIH Innovation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14400"/>
            <a:ext cx="6766560" cy="1600200"/>
          </a:xfrm>
          <a:prstGeom prst="roundRect">
            <a:avLst/>
          </a:prstGeom>
          <a:solidFill>
            <a:srgbClr val="FDF2F2"/>
          </a:solidFill>
          <a:ln w="19050"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ctr">
              <a:defRPr b="1" sz="1300">
                <a:solidFill>
                  <a:srgbClr val="D93025"/>
                </a:solidFill>
              </a:defRPr>
            </a:pPr>
            <a:r>
              <a:t>PROBLEM EXISTING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02124"/>
                </a:solidFill>
              </a:rPr>
              <a:t>➤ Data Sovereignty &amp; Air-Gap Violation : </a:t>
            </a:r>
            <a:r>
              <a:rPr sz="1000">
                <a:solidFill>
                  <a:srgbClr val="202124"/>
                </a:solidFill>
              </a:rPr>
              <a:t>Defense plants &amp; power grids cannot send confidential telemetry to cloud AI (OpenAI/AWS).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02124"/>
                </a:solidFill>
              </a:rPr>
              <a:t>➤ Catastrophic LLM Hallucinations : </a:t>
            </a:r>
            <a:r>
              <a:rPr sz="1000">
                <a:solidFill>
                  <a:srgbClr val="202124"/>
                </a:solidFill>
              </a:rPr>
              <a:t>Probabilistic AI cannot be trusted with machinery—hallucinated setpoints cause fatal damage.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02124"/>
                </a:solidFill>
              </a:rPr>
              <a:t>➤ Edge Hardware Heterogeneity : </a:t>
            </a:r>
            <a:r>
              <a:rPr sz="1000">
                <a:solidFill>
                  <a:srgbClr val="202124"/>
                </a:solidFill>
              </a:rPr>
              <a:t>Shop floor terminals range from 8GB RAM fanless PCs to workstations; heavy models crash edge PCs.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6766560" cy="182880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ctr">
              <a:defRPr b="1" sz="1300">
                <a:solidFill>
                  <a:srgbClr val="1A73E8"/>
                </a:solidFill>
              </a:defRPr>
            </a:pPr>
            <a:r>
              <a:t>PROPOSED SOLUTION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02124"/>
                </a:solidFill>
              </a:rPr>
              <a:t>➤ 100% Air-Gapped Local Intelligence : </a:t>
            </a:r>
            <a:r>
              <a:rPr sz="1000">
                <a:solidFill>
                  <a:srgbClr val="202124"/>
                </a:solidFill>
              </a:rPr>
              <a:t>Quantized GGUF models (llama_cpp), embedded Qdrant vector DB &amp; GraphRAG running 100% offline.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02124"/>
                </a:solidFill>
              </a:rPr>
              <a:t>➤ Dual-Rail Safety Separation : </a:t>
            </a:r>
            <a:r>
              <a:rPr sz="1000">
                <a:solidFill>
                  <a:srgbClr val="202124"/>
                </a:solidFill>
              </a:rPr>
              <a:t>Probabilistic AI reasoning is isolated from deterministic safety interlocks (math thresholds + E-Stop).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02124"/>
                </a:solidFill>
              </a:rPr>
              <a:t>➤ Two-Person Rule for Actuators : </a:t>
            </a:r>
            <a:r>
              <a:rPr sz="1000">
                <a:solidFill>
                  <a:srgbClr val="202124"/>
                </a:solidFill>
              </a:rPr>
              <a:t>Physical control commands pause in PENDING state; require certified Safety Officer signoff.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02124"/>
                </a:solidFill>
              </a:rPr>
              <a:t>➤ 3D Spatial Digital Twin : </a:t>
            </a:r>
            <a:r>
              <a:rPr sz="1000">
                <a:solidFill>
                  <a:srgbClr val="202124"/>
                </a:solidFill>
              </a:rPr>
              <a:t>Interactive Three.js WebGL plant floor canvas streaming sub-second multi-sensor WebSocket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17720"/>
            <a:ext cx="6766560" cy="1691640"/>
          </a:xfrm>
          <a:prstGeom prst="roundRect">
            <a:avLst/>
          </a:prstGeom>
          <a:solidFill>
            <a:srgbClr val="FEF9EB"/>
          </a:solidFill>
          <a:ln w="19050">
            <a:solidFill>
              <a:srgbClr val="F2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ctr">
              <a:defRPr b="1" sz="1300">
                <a:solidFill>
                  <a:srgbClr val="F29900"/>
                </a:solidFill>
              </a:defRPr>
            </a:pPr>
            <a:r>
              <a:t>UVP (UNIQUE VALUE PROPOSITION)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02124"/>
                </a:solidFill>
              </a:rPr>
              <a:t>➤ World's First Dual-Rail Industrial AI : </a:t>
            </a:r>
            <a:r>
              <a:rPr sz="1000">
                <a:solidFill>
                  <a:srgbClr val="202124"/>
                </a:solidFill>
              </a:rPr>
              <a:t>Zero-hallucination guarantee: AI advises; deterministic mathematical interlocks govern.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02124"/>
                </a:solidFill>
              </a:rPr>
              <a:t>➤ Hardware-Aware Adaptive Routing : </a:t>
            </a:r>
            <a:r>
              <a:rPr sz="1000">
                <a:solidFill>
                  <a:srgbClr val="202124"/>
                </a:solidFill>
              </a:rPr>
              <a:t>Dynamic silicon profiling (CPU/RAM/VRAM) prevents OOM memory crashes on edge PCs.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02124"/>
                </a:solidFill>
              </a:rPr>
              <a:t>➤ Causal GraphRAG vs Standard Vector RAG : </a:t>
            </a:r>
            <a:r>
              <a:rPr sz="1000">
                <a:solidFill>
                  <a:srgbClr val="202124"/>
                </a:solidFill>
              </a:rPr>
              <a:t>Traces multi-hop causal paths: Machine → Component → FailureMode → Incident → SOP.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02124"/>
                </a:solidFill>
              </a:rPr>
              <a:t>➤ Cryptographic Chained Auditability : </a:t>
            </a:r>
            <a:r>
              <a:rPr sz="1000">
                <a:solidFill>
                  <a:srgbClr val="202124"/>
                </a:solidFill>
              </a:rPr>
              <a:t>Every single prompt, diagnosis, and actuation is sealed in a tamper-evident HMAC SHA-256 chain.</a:t>
            </a:r>
          </a:p>
        </p:txBody>
      </p:sp>
      <p:pic>
        <p:nvPicPr>
          <p:cNvPr id="8" name="Picture 7" descr="architecture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841248"/>
            <a:ext cx="3977639" cy="55595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@ Sovereign Industrial AI Workbench — Team Sovereign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nical_approach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2B49"/>
                </a:solidFill>
                <a:latin typeface="Arial"/>
              </a:defRPr>
            </a:pPr>
            <a:r>
              <a:t>FEASIBILITY, VIABILITY &amp; RISK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3716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82B49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228600"/>
            <a:ext cx="1463040" cy="292608"/>
          </a:xfrm>
          <a:prstGeom prst="roundRect">
            <a:avLst/>
          </a:prstGeom>
          <a:solidFill>
            <a:srgbClr val="F29900"/>
          </a:solidFill>
          <a:ln>
            <a:solidFill>
              <a:srgbClr val="F2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📊 Evaluation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60120"/>
            <a:ext cx="5440680" cy="24688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wrap="square"/>
          <a:lstStyle/>
          <a:p>
            <a:pPr algn="ctr">
              <a:defRPr b="1" sz="1300">
                <a:solidFill>
                  <a:srgbClr val="1A73E8"/>
                </a:solidFill>
              </a:defRPr>
            </a:pPr>
            <a:r>
              <a:t>FEASIBILITY :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Technical : </a:t>
            </a:r>
            <a:r>
              <a:rPr sz="950">
                <a:solidFill>
                  <a:srgbClr val="202124"/>
                </a:solidFill>
              </a:rPr>
              <a:t>Proven local stack (FastAPI, llama_cpp, embedded Qdrant). 18 automated Pytest test suites verified with 100% pass rate.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Data Compliance : </a:t>
            </a:r>
            <a:r>
              <a:rPr sz="950">
                <a:solidFill>
                  <a:srgbClr val="202124"/>
                </a:solidFill>
              </a:rPr>
              <a:t>Strictly meets IEC 61508 SIL-2/3 safety segregation and ISO 27001 data sovereignty.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Operational : </a:t>
            </a:r>
            <a:r>
              <a:rPr sz="950">
                <a:solidFill>
                  <a:srgbClr val="202124"/>
                </a:solidFill>
              </a:rPr>
              <a:t>Zero external daemon dependencies. Deploys as a self-contained binary/container on local edge computers without internet.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Economic : </a:t>
            </a:r>
            <a:r>
              <a:rPr sz="950">
                <a:solidFill>
                  <a:srgbClr val="202124"/>
                </a:solidFill>
              </a:rPr>
              <a:t>Operates on existing factory PCs and edge laptops; eliminates recurring cloud API token fees entirely.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960120"/>
            <a:ext cx="5440680" cy="24688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8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wrap="square"/>
          <a:lstStyle/>
          <a:p>
            <a:pPr algn="ctr">
              <a:defRPr b="1" sz="1300">
                <a:solidFill>
                  <a:srgbClr val="18864B"/>
                </a:solidFill>
              </a:defRPr>
            </a:pPr>
            <a:r>
              <a:t>VIABILITY :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Market Size : </a:t>
            </a:r>
            <a:r>
              <a:rPr sz="950">
                <a:solidFill>
                  <a:srgbClr val="202124"/>
                </a:solidFill>
              </a:rPr>
              <a:t>Indian Smart Manufacturing &amp; Industry 4.0 market reaching ₹1.5 Lakh Crore by 2030; 82% of critical units require air-gapped tech.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Policy &amp; Alignment : </a:t>
            </a:r>
            <a:r>
              <a:rPr sz="950">
                <a:solidFill>
                  <a:srgbClr val="202124"/>
                </a:solidFill>
              </a:rPr>
              <a:t>Direct fit for Make in India, Atmanirbhar Bharat, and National Mission on Interdisciplinary Cyber-Physical Systems (NM-ICPS).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Investment &amp; ROI : </a:t>
            </a:r>
            <a:r>
              <a:rPr sz="950">
                <a:solidFill>
                  <a:srgbClr val="202124"/>
                </a:solidFill>
              </a:rPr>
              <a:t>Minimal edge setup cost; break-even achieved within 6-9 months by reducing unplanned machine downtime by 35-45%.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Scalability : </a:t>
            </a:r>
            <a:r>
              <a:rPr sz="950">
                <a:solidFill>
                  <a:srgbClr val="202124"/>
                </a:solidFill>
              </a:rPr>
              <a:t>Multi-asset architecture scales from a single CNC workshop to multi-plant enterprise defense networks.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66160"/>
            <a:ext cx="5440680" cy="2697480"/>
          </a:xfrm>
          <a:prstGeom prst="roundRect">
            <a:avLst/>
          </a:prstGeom>
          <a:solidFill>
            <a:srgbClr val="FEF5F5"/>
          </a:solidFill>
          <a:ln w="19050"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wrap="square"/>
          <a:lstStyle/>
          <a:p>
            <a:pPr algn="ctr">
              <a:defRPr b="1" sz="1200">
                <a:solidFill>
                  <a:srgbClr val="D93025"/>
                </a:solidFill>
              </a:defRPr>
            </a:pPr>
            <a:r>
              <a:t>TECHNICAL CHALLENGES &amp; MITIGATIONS :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Risk 1 : </a:t>
            </a:r>
            <a:r>
              <a:rPr sz="950">
                <a:solidFill>
                  <a:srgbClr val="202124"/>
                </a:solidFill>
              </a:rPr>
              <a:t>Edge PC memory exhaustion (OOM crash) when loading local LLMs on 8GB/16GB RAM machines.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Mitigation : </a:t>
            </a:r>
            <a:r>
              <a:rPr sz="950">
                <a:solidFill>
                  <a:srgbClr val="202124"/>
                </a:solidFill>
              </a:rPr>
              <a:t>Built HardwareAwareRouter with zero-RAM GGUF header reader (gguf_reader.py) enforcing 70% RAM ceilings.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Risk 2 : </a:t>
            </a:r>
            <a:r>
              <a:rPr sz="950">
                <a:solidFill>
                  <a:srgbClr val="202124"/>
                </a:solidFill>
              </a:rPr>
              <a:t>Damaged, low-resolution paper SOP manuals causing OCR extraction failures.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Mitigation : </a:t>
            </a:r>
            <a:r>
              <a:rPr sz="950">
                <a:solidFill>
                  <a:srgbClr val="202124"/>
                </a:solidFill>
              </a:rPr>
              <a:t>Paired Tesseract OCR with PromptGuard regex sanitization and hybrid semantic fallback chunking.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566160"/>
            <a:ext cx="5440680" cy="2697480"/>
          </a:xfrm>
          <a:prstGeom prst="roundRect">
            <a:avLst/>
          </a:prstGeom>
          <a:solidFill>
            <a:srgbClr val="FEF9EB"/>
          </a:solidFill>
          <a:ln w="19050">
            <a:solidFill>
              <a:srgbClr val="F2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wrap="square"/>
          <a:lstStyle/>
          <a:p>
            <a:pPr algn="ctr">
              <a:defRPr b="1" sz="1200">
                <a:solidFill>
                  <a:srgbClr val="F29900"/>
                </a:solidFill>
              </a:defRPr>
            </a:pPr>
            <a:r>
              <a:t>BUSINESS / USER CHALLENGES &amp; MITIGATIONS :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Risk 1 : </a:t>
            </a:r>
            <a:r>
              <a:rPr sz="950">
                <a:solidFill>
                  <a:srgbClr val="202124"/>
                </a:solidFill>
              </a:rPr>
              <a:t>Plant engineers hesitant to trust probabilistic AI outputs with multi-crore machinery.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Mitigation : </a:t>
            </a:r>
            <a:r>
              <a:rPr sz="950">
                <a:solidFill>
                  <a:srgbClr val="202124"/>
                </a:solidFill>
              </a:rPr>
              <a:t>Dual-Rail architecture guarantees AI is purely advisory; physical actuation strictly requires Safety Officer signoff.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Risk 2 : </a:t>
            </a:r>
            <a:r>
              <a:rPr sz="950">
                <a:solidFill>
                  <a:srgbClr val="202124"/>
                </a:solidFill>
              </a:rPr>
              <a:t>Worker resistance to complex software interfaces on the factory floor.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Mitigation : </a:t>
            </a:r>
            <a:r>
              <a:rPr sz="950">
                <a:solidFill>
                  <a:srgbClr val="202124"/>
                </a:solidFill>
              </a:rPr>
              <a:t>Developed an intuitive natural language chat interface paired with an interactive 3D WebGL factory floor.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@ Sovereign Industrial AI Workbench — Team Sovereign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2B49"/>
                </a:solidFill>
                <a:latin typeface="Arial"/>
              </a:defRPr>
            </a:pPr>
            <a:r>
              <a:t>IMPACTS, BENEFITS &amp; COMPETITIVE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3716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82B49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228600"/>
            <a:ext cx="1463040" cy="292608"/>
          </a:xfrm>
          <a:prstGeom prst="roundRect">
            <a:avLst/>
          </a:prstGeom>
          <a:solidFill>
            <a:srgbClr val="F29900"/>
          </a:solidFill>
          <a:ln>
            <a:solidFill>
              <a:srgbClr val="F2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★ Impact 10/10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60120"/>
            <a:ext cx="5669280" cy="30175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wrap="square"/>
          <a:lstStyle/>
          <a:p>
            <a:pPr algn="ctr">
              <a:defRPr b="1" sz="1200">
                <a:solidFill>
                  <a:srgbClr val="182B49"/>
                </a:solidFill>
              </a:defRPr>
            </a:pPr>
            <a:r>
              <a:t>MEASURABLE IMPACTS &amp; VALUE CREATION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202124"/>
                </a:solidFill>
              </a:rPr>
              <a:t>•  Economic &amp; Downtime Savings : </a:t>
            </a:r>
            <a:r>
              <a:rPr sz="950">
                <a:solidFill>
                  <a:srgbClr val="202124"/>
                </a:solidFill>
              </a:rPr>
              <a:t>Industrial downtime costs ₹1.5 Cr-₹10 Cr/hr. Predictive multi-sensor diagnosis &amp; causal root-cause analysis cut unplanned outages by 35-45%.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202124"/>
                </a:solidFill>
              </a:rPr>
              <a:t>•  National Security &amp; Sovereignty : </a:t>
            </a:r>
            <a:r>
              <a:rPr sz="950">
                <a:solidFill>
                  <a:srgbClr val="202124"/>
                </a:solidFill>
              </a:rPr>
              <a:t>Confidential defense blueprints (DRDO, HAL, ISRO) and operational telemetry remain 100% on sovereign soil—zero foreign cloud exfiltration.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202124"/>
                </a:solidFill>
              </a:rPr>
              <a:t>•  Safety &amp; Operational Transformation : </a:t>
            </a:r>
            <a:r>
              <a:rPr sz="950">
                <a:solidFill>
                  <a:srgbClr val="202124"/>
                </a:solidFill>
              </a:rPr>
              <a:t>Prevents catastrophic mechanical accidents through deterministic interlocks while empowering junior operators with senior-engineer diagnostic SOPs.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960120"/>
          <a:ext cx="5212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"/>
                <a:gridCol w="1005840"/>
                <a:gridCol w="1097280"/>
              </a:tblGrid>
              <a:tr h="431074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Feature / Capability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Cloud AI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Legacy SCADA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Sovereign AI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02124"/>
                          </a:solidFill>
                        </a:defRPr>
                      </a:pPr>
                      <a:r>
                        <a:t>100% Air-Gapped / Offline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D93025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8864B"/>
                          </a:solidFill>
                        </a:defRPr>
                      </a:pPr>
                      <a:r>
                        <a:t>✔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8864B"/>
                          </a:solidFill>
                        </a:defRPr>
                      </a:pPr>
                      <a:r>
                        <a:t>✔ 100% Offline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02124"/>
                          </a:solidFill>
                        </a:defRPr>
                      </a:pPr>
                      <a:r>
                        <a:t>Zero Cloud Data Leakage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D93025"/>
                          </a:solidFill>
                        </a:defRPr>
                      </a:pPr>
                      <a:r>
                        <a:t>❌ Leak Risk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8864B"/>
                          </a:solidFill>
                        </a:defRPr>
                      </a:pPr>
                      <a:r>
                        <a:t>✔ Local Only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8864B"/>
                          </a:solidFill>
                        </a:defRPr>
                      </a:pPr>
                      <a:r>
                        <a:t>✔ Tamper-Evident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02124"/>
                          </a:solidFill>
                        </a:defRPr>
                      </a:pPr>
                      <a:r>
                        <a:t>Generative SOP Diagnostics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8864B"/>
                          </a:solidFill>
                        </a:defRPr>
                      </a:pPr>
                      <a:r>
                        <a:t>✔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D93025"/>
                          </a:solidFill>
                        </a:defRPr>
                      </a:pPr>
                      <a:r>
                        <a:t>❌ Dumb Alarms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8864B"/>
                          </a:solidFill>
                        </a:defRPr>
                      </a:pPr>
                      <a:r>
                        <a:t>✔ Grounded GGUF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02124"/>
                          </a:solidFill>
                        </a:defRPr>
                      </a:pPr>
                      <a:r>
                        <a:t>Causal GraphRAG Root-Cause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D93025"/>
                          </a:solidFill>
                        </a:defRPr>
                      </a:pPr>
                      <a:r>
                        <a:t>❌ Flat Text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D93025"/>
                          </a:solidFill>
                        </a:defRPr>
                      </a:pPr>
                      <a:r>
                        <a:t>❌ No Graph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8864B"/>
                          </a:solidFill>
                        </a:defRPr>
                      </a:pPr>
                      <a:r>
                        <a:t>✔ Causal Chains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02124"/>
                          </a:solidFill>
                        </a:defRPr>
                      </a:pPr>
                      <a:r>
                        <a:t>Deterministic Safety Interlock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D93025"/>
                          </a:solidFill>
                        </a:defRPr>
                      </a:pPr>
                      <a:r>
                        <a:t>❌ Hallucinates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8864B"/>
                          </a:solidFill>
                        </a:defRPr>
                      </a:pPr>
                      <a:r>
                        <a:t>✔ Hardcoded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8864B"/>
                          </a:solidFill>
                        </a:defRPr>
                      </a:pPr>
                      <a:r>
                        <a:t>✔ Dual-Rail Isolated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02124"/>
                          </a:solidFill>
                        </a:defRPr>
                      </a:pPr>
                      <a:r>
                        <a:t>Two-Person Actuator Approval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D93025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02124"/>
                          </a:solidFill>
                        </a:defRPr>
                      </a:pPr>
                      <a:r>
                        <a:t>⚠️ Manual Keys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8864B"/>
                          </a:solidFill>
                        </a:defRPr>
                      </a:pPr>
                      <a:r>
                        <a:t>✔ Cryptographic Gate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160520"/>
            <a:ext cx="3566160" cy="2057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37160" wrap="square"/>
          <a:lstStyle/>
          <a:p>
            <a:pPr algn="ctr">
              <a:defRPr b="1" sz="1000">
                <a:solidFill>
                  <a:srgbClr val="00A8B5"/>
                </a:solidFill>
              </a:defRPr>
            </a:pPr>
            <a:r>
              <a:t>MODE 1: ACTIVE TWIN &amp; TELEMETRY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For : </a:t>
            </a:r>
            <a:r>
              <a:rPr sz="850">
                <a:solidFill>
                  <a:srgbClr val="5F6368"/>
                </a:solidFill>
              </a:rPr>
              <a:t>Real-time equipment supervision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Process : </a:t>
            </a:r>
            <a:r>
              <a:rPr sz="850">
                <a:solidFill>
                  <a:srgbClr val="5F6368"/>
                </a:solidFill>
              </a:rPr>
              <a:t>WebSocket → Harmonic Simulator → Three.js 3D Floor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Latency : </a:t>
            </a:r>
            <a:r>
              <a:rPr sz="850">
                <a:solidFill>
                  <a:srgbClr val="5F6368"/>
                </a:solidFill>
              </a:rPr>
              <a:t>Sub-second updates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Output : </a:t>
            </a:r>
            <a:r>
              <a:rPr sz="850">
                <a:solidFill>
                  <a:srgbClr val="5F6368"/>
                </a:solidFill>
              </a:rPr>
              <a:t>Live health scores &amp; thermal/vib charts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Best For : </a:t>
            </a:r>
            <a:r>
              <a:rPr sz="850">
                <a:solidFill>
                  <a:srgbClr val="5F6368"/>
                </a:solidFill>
              </a:rPr>
              <a:t>Continuous shop floor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4160520"/>
            <a:ext cx="3566160" cy="2057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37160" wrap="square"/>
          <a:lstStyle/>
          <a:p>
            <a:pPr algn="ctr">
              <a:defRPr b="1" sz="1000">
                <a:solidFill>
                  <a:srgbClr val="1A73E8"/>
                </a:solidFill>
              </a:defRPr>
            </a:pPr>
            <a:r>
              <a:t>MODE 2: CONTEXTUAL DIAGNOSTIC AI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For : </a:t>
            </a:r>
            <a:r>
              <a:rPr sz="850">
                <a:solidFill>
                  <a:srgbClr val="5F6368"/>
                </a:solidFill>
              </a:rPr>
              <a:t>Fault investigation &amp; anomalous wear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Process : </a:t>
            </a:r>
            <a:r>
              <a:rPr sz="850">
                <a:solidFill>
                  <a:srgbClr val="5F6368"/>
                </a:solidFill>
              </a:rPr>
              <a:t>PromptGuard → LangGraph → Qdrant RAG + GraphRAG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Latency : </a:t>
            </a:r>
            <a:r>
              <a:rPr sz="850">
                <a:solidFill>
                  <a:srgbClr val="5F6368"/>
                </a:solidFill>
              </a:rPr>
              <a:t>2-4 Seconds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Output : </a:t>
            </a:r>
            <a:r>
              <a:rPr sz="850">
                <a:solidFill>
                  <a:srgbClr val="5F6368"/>
                </a:solidFill>
              </a:rPr>
              <a:t>Grounded SOP repair steps with citations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Best For : </a:t>
            </a:r>
            <a:r>
              <a:rPr sz="850">
                <a:solidFill>
                  <a:srgbClr val="5F6368"/>
                </a:solidFill>
              </a:rPr>
              <a:t>Bearing fatigue, thermal trips, coolant leaks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4160520"/>
            <a:ext cx="3566160" cy="2057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37160" wrap="square"/>
          <a:lstStyle/>
          <a:p>
            <a:pPr algn="ctr">
              <a:defRPr b="1" sz="1000">
                <a:solidFill>
                  <a:srgbClr val="D93025"/>
                </a:solidFill>
              </a:defRPr>
            </a:pPr>
            <a:r>
              <a:t>MODE 3: GOVERNED SAFETY ACTUATION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For : </a:t>
            </a:r>
            <a:r>
              <a:rPr sz="850">
                <a:solidFill>
                  <a:srgbClr val="5F6368"/>
                </a:solidFill>
              </a:rPr>
              <a:t>Machine trip, E-Stop, setpoint change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Process : </a:t>
            </a:r>
            <a:r>
              <a:rPr sz="850">
                <a:solidFill>
                  <a:srgbClr val="5F6368"/>
                </a:solidFill>
              </a:rPr>
              <a:t>Deterministic Interlock → PENDING Queue → 2FA Signoff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Latency : </a:t>
            </a:r>
            <a:r>
              <a:rPr sz="850">
                <a:solidFill>
                  <a:srgbClr val="5F6368"/>
                </a:solidFill>
              </a:rPr>
              <a:t>Instant safety trip / human approval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Output : </a:t>
            </a:r>
            <a:r>
              <a:rPr sz="850">
                <a:solidFill>
                  <a:srgbClr val="5F6368"/>
                </a:solidFill>
              </a:rPr>
              <a:t>Two-person signed HMAC audit record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202124"/>
                </a:solidFill>
              </a:rPr>
              <a:t>Best For : </a:t>
            </a:r>
            <a:r>
              <a:rPr sz="850">
                <a:solidFill>
                  <a:srgbClr val="5F6368"/>
                </a:solidFill>
              </a:rPr>
              <a:t>Emergency shutdown &amp; sensitive actuator override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@ Sovereign Industrial AI Workbench — Team Sovereign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2B49"/>
                </a:solidFill>
                <a:latin typeface="Arial"/>
              </a:defRPr>
            </a:pPr>
            <a:r>
              <a:t>RESEARCH, INDUSTRIAL REFERENCES &amp;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3716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82B49"/>
                </a:solidFill>
                <a:latin typeface="Arial"/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228600"/>
            <a:ext cx="1463040" cy="292608"/>
          </a:xfrm>
          <a:prstGeom prst="roundRect">
            <a:avLst/>
          </a:prstGeom>
          <a:solidFill>
            <a:srgbClr val="F29900"/>
          </a:solidFill>
          <a:ln>
            <a:solidFill>
              <a:srgbClr val="F2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🔗 Evidence &amp;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60120"/>
            <a:ext cx="11064240" cy="21031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28600" wrap="square"/>
          <a:lstStyle/>
          <a:p>
            <a:pPr algn="ctr">
              <a:defRPr b="1" sz="1200">
                <a:solidFill>
                  <a:srgbClr val="182B49"/>
                </a:solidFill>
              </a:defRPr>
            </a:pPr>
            <a:r>
              <a:t>RESEARCH FOUNDATIONS &amp; REGULATORY STANDARDS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IEC 61508 / ISO 13849 : </a:t>
            </a:r>
            <a:r>
              <a:rPr sz="950">
                <a:solidFill>
                  <a:srgbClr val="202124"/>
                </a:solidFill>
              </a:rPr>
              <a:t>International functional safety standards for industrial control systems. Governs our Dual-Rail deterministic interlock architecture.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NIST SP 800-53 (Rev. 5) : </a:t>
            </a:r>
            <a:r>
              <a:rPr sz="950">
                <a:solidFill>
                  <a:srgbClr val="202124"/>
                </a:solidFill>
              </a:rPr>
              <a:t>Security &amp; privacy controls for federal information systems. Informs our air-gapped network boundary and zero-egress enforcement.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Microsoft GraphRAG Research (2024) : </a:t>
            </a:r>
            <a:r>
              <a:rPr sz="950">
                <a:solidFill>
                  <a:srgbClr val="202124"/>
                </a:solidFill>
              </a:rPr>
              <a:t>Proves that structured Knowledge Graph traversal outperforms flat vector search by 38% in complex multi-hop causal inference.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02124"/>
                </a:solidFill>
              </a:rPr>
              <a:t>•  NITI Aayog National AI Strategy : </a:t>
            </a:r>
            <a:r>
              <a:rPr sz="950">
                <a:solidFill>
                  <a:srgbClr val="202124"/>
                </a:solidFill>
              </a:rPr>
              <a:t>Emphasizes sovereign, on-premise AI deployments to safeguard national critical infrastructure from cyber threats.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46120"/>
            <a:ext cx="5394960" cy="15087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82880"/>
          <a:lstStyle/>
          <a:p>
            <a:pPr algn="ctr">
              <a:defRPr b="1" sz="1100">
                <a:solidFill>
                  <a:srgbClr val="D93025"/>
                </a:solidFill>
              </a:defRPr>
            </a:pPr>
            <a:r>
              <a:t>SOLUTIONS ALREADY EXIST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02124"/>
                </a:solidFill>
              </a:rPr>
              <a:t>➤ Public Cloud LLMs (OpenAI/AWS) : </a:t>
            </a:r>
            <a:r>
              <a:rPr sz="1000">
                <a:solidFill>
                  <a:srgbClr val="202124"/>
                </a:solidFill>
              </a:rPr>
              <a:t>Violate air-gaps; expose confidential blueprints; hallucinate dangerous actions.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02124"/>
                </a:solidFill>
              </a:rPr>
              <a:t>➤ Legacy SCADA Systems : </a:t>
            </a:r>
            <a:r>
              <a:rPr sz="1000">
                <a:solidFill>
                  <a:srgbClr val="202124"/>
                </a:solidFill>
              </a:rPr>
              <a:t>Provide raw sensor alarms but zero root-cause explanation or automated SOP assistance.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46120"/>
            <a:ext cx="5394960" cy="150876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82880"/>
          <a:lstStyle/>
          <a:p>
            <a:pPr algn="ctr">
              <a:defRPr b="1" sz="1100">
                <a:solidFill>
                  <a:srgbClr val="1A73E8"/>
                </a:solidFill>
              </a:defRPr>
            </a:pPr>
            <a:r>
              <a:t>OUR SOLUTION STANDS OUT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02124"/>
                </a:solidFill>
              </a:rPr>
              <a:t>➤ 100% Air-Gapped Local Intelligence : </a:t>
            </a:r>
            <a:r>
              <a:rPr sz="1000">
                <a:solidFill>
                  <a:srgbClr val="202124"/>
                </a:solidFill>
              </a:rPr>
              <a:t>Runs offline on factory floor edge compute with zero internet reliance.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02124"/>
                </a:solidFill>
              </a:rPr>
              <a:t>➤ Dual-Rail Deterministic Safety : </a:t>
            </a:r>
            <a:r>
              <a:rPr sz="1000">
                <a:solidFill>
                  <a:srgbClr val="202124"/>
                </a:solidFill>
              </a:rPr>
              <a:t>AI advises; mathematical threshold interlocks &amp; Two-Person safety officers govern.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92040"/>
            <a:ext cx="11064240" cy="13716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8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228600"/>
          <a:lstStyle/>
          <a:p>
            <a:pPr algn="ctr">
              <a:defRPr b="1" sz="1100">
                <a:solidFill>
                  <a:srgbClr val="18864B"/>
                </a:solidFill>
              </a:defRPr>
            </a:pPr>
            <a:r>
              <a:t>PROJECT RESOURCES &amp; VERIFICATION ARTIFACTS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202124"/>
                </a:solidFill>
              </a:rPr>
              <a:t>•  Live Interactive Prototype : </a:t>
            </a:r>
            <a:r>
              <a:rPr sz="950">
                <a:solidFill>
                  <a:srgbClr val="1A73E8"/>
                </a:solidFill>
              </a:rPr>
              <a:t>http://localhost:5173 (3D Plant Floor, Live WebSockets &amp; AI Assistant)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202124"/>
                </a:solidFill>
              </a:rPr>
              <a:t>•  Swagger OpenAPI Specification : </a:t>
            </a:r>
            <a:r>
              <a:rPr sz="950">
                <a:solidFill>
                  <a:srgbClr val="1A73E8"/>
                </a:solidFill>
              </a:rPr>
              <a:t>http://localhost:8000/docs (20 Router Modules, 28 Relational Models)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202124"/>
                </a:solidFill>
              </a:rPr>
              <a:t>•  Complete Forensic Architecture Specification : </a:t>
            </a:r>
            <a:r>
              <a:rPr sz="950">
                <a:solidFill>
                  <a:srgbClr val="1A73E8"/>
                </a:solidFill>
              </a:rPr>
              <a:t>docs/COMPLETE_PROJECT_DOCUMENTATION.md (1,450+ Lines)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202124"/>
                </a:solidFill>
              </a:rPr>
              <a:t>•  Automated Verification Test Suite : </a:t>
            </a:r>
            <a:r>
              <a:rPr sz="950">
                <a:solidFill>
                  <a:srgbClr val="1A73E8"/>
                </a:solidFill>
              </a:rPr>
              <a:t>backend/tests/ (18 Pytest Test Suites with 100% Pass Rate)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   @ Sovereign Industrial AI Workbench — Team Sovereign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